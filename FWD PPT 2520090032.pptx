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8"/>
  </p:notesMasterIdLst>
  <p:handoutMasterIdLst>
    <p:handoutMasterId r:id="rId19"/>
  </p:handoutMasterIdLst>
  <p:sldIdLst>
    <p:sldId id="261" r:id="rId3"/>
    <p:sldId id="314" r:id="rId4"/>
    <p:sldId id="322" r:id="rId5"/>
    <p:sldId id="323" r:id="rId6"/>
    <p:sldId id="266" r:id="rId7"/>
    <p:sldId id="341" r:id="rId8"/>
    <p:sldId id="342" r:id="rId9"/>
    <p:sldId id="343" r:id="rId10"/>
    <p:sldId id="344" r:id="rId11"/>
    <p:sldId id="345" r:id="rId12"/>
    <p:sldId id="346" r:id="rId13"/>
    <p:sldId id="340" r:id="rId14"/>
    <p:sldId id="347" r:id="rId15"/>
    <p:sldId id="348" r:id="rId16"/>
    <p:sldId id="33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CDB23-F71F-45AC-95C4-53EA35851854}" v="25" dt="2026-03-04T03:42:43.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582"/>
    <p:restoredTop sz="95833"/>
  </p:normalViewPr>
  <p:slideViewPr>
    <p:cSldViewPr snapToGrid="0" snapToObjects="1">
      <p:cViewPr varScale="1">
        <p:scale>
          <a:sx n="85" d="100"/>
          <a:sy n="85" d="100"/>
        </p:scale>
        <p:origin x="379" y="62"/>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3/9/2026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09-03-2026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09-03-2026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09-03-2026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09-03-2026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09-03-2026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09-03-2026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09-03-2026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09-03-2026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09-03-2026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09-03-2026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09-03-2026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09-03-2026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09-03-2026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09-03-2026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09-03-2026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09-03-2026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09-03-2026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INSTRUCTIONS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92500" lnSpcReduction="10000"/>
          </a:bodyPr>
          <a:lstStyle/>
          <a:p>
            <a:r>
              <a:rPr lang="en-IN" dirty="0"/>
              <a:t>Use Font size 22 to 28 and Font Style </a:t>
            </a:r>
            <a:r>
              <a:rPr lang="en-IN" b="0" i="0" dirty="0">
                <a:solidFill>
                  <a:srgbClr val="0A0A0A"/>
                </a:solidFill>
                <a:effectLst/>
                <a:latin typeface="Google Sans"/>
              </a:rPr>
              <a:t>Times New Roman </a:t>
            </a:r>
            <a:r>
              <a:rPr lang="en-IN" dirty="0"/>
              <a:t>(body)</a:t>
            </a:r>
          </a:p>
          <a:p>
            <a:r>
              <a:rPr lang="en-IN" dirty="0"/>
              <a:t>Do not change the Template: Heading / Title of the slides</a:t>
            </a:r>
          </a:p>
          <a:p>
            <a:r>
              <a:rPr lang="en-IN" dirty="0"/>
              <a:t>Do not change font style or colours</a:t>
            </a:r>
          </a:p>
          <a:p>
            <a:r>
              <a:rPr lang="en-IN" dirty="0"/>
              <a:t>Do not copy paste paragraphs: use only Bullet Points</a:t>
            </a:r>
          </a:p>
          <a:p>
            <a:r>
              <a:rPr lang="en-IN" dirty="0"/>
              <a:t>Maximum slide Limit is 20 only</a:t>
            </a:r>
          </a:p>
          <a:p>
            <a:r>
              <a:rPr lang="en-IN" dirty="0"/>
              <a:t>As per the number of supervisor allotted adopt slide-2 or slide-3</a:t>
            </a:r>
          </a:p>
          <a:p>
            <a:r>
              <a:rPr lang="en-IN" dirty="0"/>
              <a:t>Please display the required meaningful Content or images or tables </a:t>
            </a:r>
          </a:p>
          <a:p>
            <a:r>
              <a:rPr lang="en-IN" dirty="0"/>
              <a:t>Change the footer accordingly using insert tab then click on header &amp; footer tab and edit it</a:t>
            </a:r>
          </a:p>
          <a:p>
            <a:r>
              <a:rPr lang="en-IN" dirty="0"/>
              <a:t>Save the PPT with Register No, Dept and Review no,  example: </a:t>
            </a:r>
            <a:r>
              <a:rPr lang="en-US" dirty="0"/>
              <a:t>23xxxxxxxxx_CSE</a:t>
            </a:r>
            <a:endParaRPr lang="en-IN"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9ADE338F-74DD-D142-8C58-9E4C5E66F6E8}"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2851391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 </a:t>
            </a:r>
            <a:r>
              <a:rPr lang="en-US" sz="2400" b="1" dirty="0">
                <a:solidFill>
                  <a:srgbClr val="0070C0"/>
                </a:solidFill>
                <a:latin typeface="Times New Roman" panose="02020603050405020304" pitchFamily="18" charset="0"/>
                <a:cs typeface="Times New Roman" panose="02020603050405020304" pitchFamily="18" charset="0"/>
              </a:rPr>
              <a:t>THE THOUGHTFUL WRITING SPACE</a:t>
            </a:r>
            <a:endParaRPr lang="en-US" sz="2400" dirty="0">
              <a:solidFill>
                <a:srgbClr val="0070C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D.MANYA AKSHITHA</a:t>
            </a:r>
          </a:p>
          <a:p>
            <a:pPr marL="0" indent="0" algn="ctr">
              <a:buNone/>
            </a:pPr>
            <a:r>
              <a:rPr lang="en-US" sz="9600" dirty="0"/>
              <a:t>Student ID: 2520090032</a:t>
            </a:r>
            <a:endParaRPr lang="en-US" sz="2400" dirty="0"/>
          </a:p>
          <a:p>
            <a:pPr marL="0" indent="0" algn="ctr">
              <a:buNone/>
            </a:pPr>
            <a:r>
              <a:rPr lang="en-US" sz="11200" dirty="0"/>
              <a:t>Cluster:3</a:t>
            </a:r>
          </a:p>
          <a:p>
            <a:pPr marL="0" indent="0" algn="ctr">
              <a:buNone/>
            </a:pPr>
            <a:r>
              <a:rPr lang="en-US" sz="11200" dirty="0"/>
              <a:t>Section: 11</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09-03-2026</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356361" y="5015918"/>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T.S.P MADHURI</a:t>
            </a: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1017016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t>Abstract</a:t>
            </a:r>
          </a:p>
          <a:p>
            <a:pPr marL="514350" indent="-514350">
              <a:buFont typeface="+mj-lt"/>
              <a:buAutoNum type="arabicPeriod"/>
            </a:pPr>
            <a:r>
              <a:rPr lang="en-IN" dirty="0"/>
              <a:t>Existing System </a:t>
            </a:r>
          </a:p>
          <a:p>
            <a:pPr marL="514350" indent="-514350">
              <a:buFont typeface="+mj-lt"/>
              <a:buAutoNum type="arabicPeriod"/>
            </a:pPr>
            <a:r>
              <a:rPr lang="en-IN" dirty="0"/>
              <a:t>Proposed System</a:t>
            </a:r>
          </a:p>
          <a:p>
            <a:pPr marL="514350" indent="-514350">
              <a:buFont typeface="+mj-lt"/>
              <a:buAutoNum type="arabicPeriod"/>
            </a:pPr>
            <a:r>
              <a:rPr lang="en-IN" dirty="0"/>
              <a:t>System Architecture</a:t>
            </a:r>
          </a:p>
          <a:p>
            <a:pPr marL="514350" indent="-514350">
              <a:buFont typeface="+mj-lt"/>
              <a:buAutoNum type="arabicPeriod"/>
            </a:pPr>
            <a:r>
              <a:rPr lang="en-IN" dirty="0"/>
              <a:t>Project Modules</a:t>
            </a:r>
          </a:p>
          <a:p>
            <a:pPr marL="514350" indent="-514350">
              <a:buFont typeface="+mj-lt"/>
              <a:buAutoNum type="arabicPeriod"/>
            </a:pPr>
            <a:r>
              <a:rPr lang="en-IN" dirty="0"/>
              <a:t>Objectives </a:t>
            </a:r>
          </a:p>
          <a:p>
            <a:pPr marL="514350" indent="-514350">
              <a:buFont typeface="+mj-lt"/>
              <a:buAutoNum type="arabicPeriod"/>
            </a:pPr>
            <a:r>
              <a:rPr lang="en-IN" dirty="0"/>
              <a:t>Co’s Attainments - FWD</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Co’s Attainments - DSA</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Screen Shots for FWD &amp; DSA</a:t>
            </a:r>
          </a:p>
          <a:p>
            <a:pPr marL="514350" indent="-514350">
              <a:buFont typeface="+mj-lt"/>
              <a:buAutoNum type="arabicPeriod"/>
            </a:pPr>
            <a:r>
              <a:rPr lang="en-IN" dirty="0"/>
              <a:t>Conclusion</a:t>
            </a:r>
          </a:p>
          <a:p>
            <a:pPr marL="514350" indent="-514350">
              <a:buFont typeface="+mj-lt"/>
              <a:buAutoNum type="arabicPeriod"/>
            </a:pPr>
            <a:r>
              <a:rPr lang="en-IN"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326239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fontScale="25000" lnSpcReduction="20000"/>
          </a:bodyPr>
          <a:lstStyle/>
          <a:p>
            <a:pPr>
              <a:lnSpc>
                <a:spcPct val="120000"/>
              </a:lnSpc>
            </a:pPr>
            <a:r>
              <a:rPr lang="en-US" sz="8000" dirty="0">
                <a:latin typeface="Times New Roman" panose="02020603050405020304" pitchFamily="18" charset="0"/>
                <a:cs typeface="Times New Roman" panose="02020603050405020304" pitchFamily="18" charset="0"/>
              </a:rPr>
              <a:t>The journal web page is designed to provide a digital platform where users can write and store their daily thoughts and reflections.</a:t>
            </a:r>
          </a:p>
          <a:p>
            <a:pPr>
              <a:lnSpc>
                <a:spcPct val="120000"/>
              </a:lnSpc>
            </a:pPr>
            <a:r>
              <a:rPr lang="en-US" sz="8000" dirty="0">
                <a:latin typeface="Times New Roman" panose="02020603050405020304" pitchFamily="18" charset="0"/>
                <a:cs typeface="Times New Roman" panose="02020603050405020304" pitchFamily="18" charset="0"/>
              </a:rPr>
              <a:t>The system allows users to register and create a personal space for recording their experiences and emotions.</a:t>
            </a:r>
          </a:p>
          <a:p>
            <a:pPr>
              <a:lnSpc>
                <a:spcPct val="120000"/>
              </a:lnSpc>
            </a:pPr>
            <a:r>
              <a:rPr lang="en-US" sz="8000" dirty="0">
                <a:latin typeface="Times New Roman" panose="02020603050405020304" pitchFamily="18" charset="0"/>
                <a:cs typeface="Times New Roman" panose="02020603050405020304" pitchFamily="18" charset="0"/>
              </a:rPr>
              <a:t>After registration, users can write about their daily reflection and important events that happened during the day.</a:t>
            </a:r>
          </a:p>
          <a:p>
            <a:pPr>
              <a:lnSpc>
                <a:spcPct val="120000"/>
              </a:lnSpc>
            </a:pPr>
            <a:r>
              <a:rPr lang="en-US" sz="8000" dirty="0">
                <a:latin typeface="Times New Roman" panose="02020603050405020304" pitchFamily="18" charset="0"/>
                <a:cs typeface="Times New Roman" panose="02020603050405020304" pitchFamily="18" charset="0"/>
              </a:rPr>
              <a:t>The application then guides the user to the next page where they can describe how they feel, what they have learned, what changes they want to make in themselves, and how they want to improve.</a:t>
            </a:r>
          </a:p>
          <a:p>
            <a:pPr>
              <a:lnSpc>
                <a:spcPct val="120000"/>
              </a:lnSpc>
            </a:pPr>
            <a:r>
              <a:rPr lang="en-US" sz="8000" dirty="0">
                <a:latin typeface="Times New Roman" panose="02020603050405020304" pitchFamily="18" charset="0"/>
                <a:cs typeface="Times New Roman" panose="02020603050405020304" pitchFamily="18" charset="0"/>
              </a:rPr>
              <a:t> The platform encourages users to practice regular writing which helps in self-analysis, emotional expression, and personal development.</a:t>
            </a:r>
          </a:p>
          <a:p>
            <a:pPr>
              <a:lnSpc>
                <a:spcPct val="120000"/>
              </a:lnSpc>
            </a:pPr>
            <a:r>
              <a:rPr lang="en-US" sz="8000" dirty="0">
                <a:latin typeface="Times New Roman" panose="02020603050405020304" pitchFamily="18" charset="0"/>
                <a:cs typeface="Times New Roman" panose="02020603050405020304" pitchFamily="18" charset="0"/>
              </a:rPr>
              <a:t> The project provides a simple and organized environment for thoughtful writing and maintaining personal growth records.</a:t>
            </a:r>
          </a:p>
          <a:p>
            <a:endParaRPr lang="en-US" sz="35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2715783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pPr>
              <a:lnSpc>
                <a:spcPct val="150000"/>
              </a:lnSpc>
            </a:pPr>
            <a:r>
              <a:rPr lang="en-US" sz="2400" dirty="0">
                <a:latin typeface="Times New Roman" panose="02020603050405020304" pitchFamily="18" charset="0"/>
                <a:cs typeface="Times New Roman" panose="02020603050405020304" pitchFamily="18" charset="0"/>
              </a:rPr>
              <a:t>Limitations</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of</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Existing</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Systems</a:t>
            </a:r>
          </a:p>
          <a:p>
            <a:pPr>
              <a:lnSpc>
                <a:spcPct val="150000"/>
              </a:lnSpc>
            </a:pPr>
            <a:r>
              <a:rPr lang="en-US" sz="2400" dirty="0">
                <a:latin typeface="Times New Roman" panose="02020603050405020304" pitchFamily="18" charset="0"/>
                <a:cs typeface="Times New Roman" panose="02020603050405020304" pitchFamily="18" charset="0"/>
              </a:rPr>
              <a:t>Even though these systems are powerful, they have some limitations:</a:t>
            </a:r>
          </a:p>
          <a:p>
            <a:pPr>
              <a:lnSpc>
                <a:spcPct val="150000"/>
              </a:lnSpc>
            </a:pPr>
            <a:r>
              <a:rPr lang="en-US" sz="2400" dirty="0">
                <a:latin typeface="Times New Roman" panose="02020603050405020304" pitchFamily="18" charset="0"/>
                <a:cs typeface="Times New Roman" panose="02020603050405020304" pitchFamily="18" charset="0"/>
              </a:rPr>
              <a:t>Many apps require paid subscriptions</a:t>
            </a:r>
          </a:p>
          <a:p>
            <a:pPr>
              <a:lnSpc>
                <a:spcPct val="150000"/>
              </a:lnSpc>
            </a:pPr>
            <a:r>
              <a:rPr lang="en-US" sz="2400" dirty="0">
                <a:latin typeface="Times New Roman" panose="02020603050405020304" pitchFamily="18" charset="0"/>
                <a:cs typeface="Times New Roman" panose="02020603050405020304" pitchFamily="18" charset="0"/>
              </a:rPr>
              <a:t>Limited customization for academic projects</a:t>
            </a:r>
          </a:p>
          <a:p>
            <a:pPr>
              <a:lnSpc>
                <a:spcPct val="150000"/>
              </a:lnSpc>
            </a:pPr>
            <a:r>
              <a:rPr lang="en-US" sz="2400" dirty="0">
                <a:latin typeface="Times New Roman" panose="02020603050405020304" pitchFamily="18" charset="0"/>
                <a:cs typeface="Times New Roman" panose="02020603050405020304" pitchFamily="18" charset="0"/>
              </a:rPr>
              <a:t>Most do not show algorithmic learning or DSA concepts</a:t>
            </a:r>
          </a:p>
          <a:p>
            <a:pPr>
              <a:lnSpc>
                <a:spcPct val="150000"/>
              </a:lnSpc>
            </a:pPr>
            <a:r>
              <a:rPr lang="en-US" sz="2400" dirty="0">
                <a:latin typeface="Times New Roman" panose="02020603050405020304" pitchFamily="18" charset="0"/>
                <a:cs typeface="Times New Roman" panose="02020603050405020304" pitchFamily="18" charset="0"/>
              </a:rPr>
              <a:t>Some apps store data in the cloud, raising privacy concerns</a:t>
            </a:r>
          </a:p>
          <a:p>
            <a:pPr marL="457200" lvl="1" indent="-339725" algn="just"/>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930833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9" name="Content Placeholder 8">
            <a:extLst>
              <a:ext uri="{FF2B5EF4-FFF2-40B4-BE49-F238E27FC236}">
                <a16:creationId xmlns:a16="http://schemas.microsoft.com/office/drawing/2014/main" id="{89135224-75FA-6942-7E71-50A315519F9D}"/>
              </a:ext>
            </a:extLst>
          </p:cNvPr>
          <p:cNvSpPr>
            <a:spLocks noGrp="1"/>
          </p:cNvSpPr>
          <p:nvPr>
            <p:ph idx="1"/>
          </p:nvPr>
        </p:nvSpPr>
        <p:spPr/>
        <p:txBody>
          <a:bodyPr>
            <a:normAutofit/>
          </a:bodyPr>
          <a:lstStyle/>
          <a:p>
            <a:pPr>
              <a:lnSpc>
                <a:spcPct val="150000"/>
              </a:lnSpc>
            </a:pPr>
            <a:r>
              <a:rPr lang="en-US" sz="2400" dirty="0">
                <a:latin typeface="Times New Roman" panose="02020603050405020304" pitchFamily="18" charset="0"/>
                <a:cs typeface="Times New Roman" panose="02020603050405020304" pitchFamily="18" charset="0"/>
              </a:rPr>
              <a:t>Providing structured self-reflection questions.</a:t>
            </a:r>
          </a:p>
          <a:p>
            <a:pPr>
              <a:lnSpc>
                <a:spcPct val="150000"/>
              </a:lnSpc>
            </a:pPr>
            <a:r>
              <a:rPr lang="en-US" sz="2400" dirty="0">
                <a:latin typeface="Times New Roman" panose="02020603050405020304" pitchFamily="18" charset="0"/>
                <a:cs typeface="Times New Roman" panose="02020603050405020304" pitchFamily="18" charset="0"/>
              </a:rPr>
              <a:t>Allowing users to observe personal change over time.</a:t>
            </a:r>
          </a:p>
          <a:p>
            <a:pPr>
              <a:lnSpc>
                <a:spcPct val="150000"/>
              </a:lnSpc>
            </a:pPr>
            <a:r>
              <a:rPr lang="en-US" sz="2400" dirty="0">
                <a:latin typeface="Times New Roman" panose="02020603050405020304" pitchFamily="18" charset="0"/>
                <a:cs typeface="Times New Roman" panose="02020603050405020304" pitchFamily="18" charset="0"/>
              </a:rPr>
              <a:t>Tracks personal Growth Over Time.</a:t>
            </a:r>
            <a:endParaRPr lang="en-IN" sz="2400" dirty="0">
              <a:latin typeface="Times New Roman" panose="02020603050405020304" pitchFamily="18" charset="0"/>
              <a:cs typeface="Times New Roman" panose="02020603050405020304" pitchFamily="18" charset="0"/>
            </a:endParaRPr>
          </a:p>
          <a:p>
            <a:endParaRPr lang="en-US" dirty="0"/>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3205484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sp>
        <p:nvSpPr>
          <p:cNvPr id="9" name="Content Placeholder 8">
            <a:extLst>
              <a:ext uri="{FF2B5EF4-FFF2-40B4-BE49-F238E27FC236}">
                <a16:creationId xmlns:a16="http://schemas.microsoft.com/office/drawing/2014/main" id="{BB15296F-156D-BE47-727B-C34C7CDD40D4}"/>
              </a:ext>
            </a:extLst>
          </p:cNvPr>
          <p:cNvSpPr>
            <a:spLocks noGrp="1"/>
          </p:cNvSpPr>
          <p:nvPr>
            <p:ph idx="1"/>
          </p:nvPr>
        </p:nvSpPr>
        <p:spPr>
          <a:xfrm>
            <a:off x="977152" y="2456328"/>
            <a:ext cx="11214847" cy="3119719"/>
          </a:xfrm>
        </p:spPr>
        <p:txBody>
          <a:bodyPr>
            <a:noAutofit/>
          </a:bodyPr>
          <a:lstStyle/>
          <a:p>
            <a:pPr>
              <a:lnSpc>
                <a:spcPct val="100000"/>
              </a:lnSpc>
            </a:pPr>
            <a:r>
              <a:rPr lang="en-US" sz="2400" dirty="0">
                <a:latin typeface="Times New Roman" panose="02020603050405020304" pitchFamily="18" charset="0"/>
                <a:cs typeface="Times New Roman" panose="02020603050405020304" pitchFamily="18" charset="0"/>
              </a:rPr>
              <a:t>1. Presentation Layer (User Interface)</a:t>
            </a:r>
          </a:p>
          <a:p>
            <a:pPr>
              <a:lnSpc>
                <a:spcPct val="100000"/>
              </a:lnSpc>
            </a:pPr>
            <a:r>
              <a:rPr lang="en-US" sz="2400" dirty="0">
                <a:latin typeface="Times New Roman" panose="02020603050405020304" pitchFamily="18" charset="0"/>
                <a:cs typeface="Times New Roman" panose="02020603050405020304" pitchFamily="18" charset="0"/>
              </a:rPr>
              <a:t> This is the front-end part where users interact with the system.</a:t>
            </a:r>
          </a:p>
          <a:p>
            <a:pPr>
              <a:lnSpc>
                <a:spcPct val="100000"/>
              </a:lnSpc>
            </a:pPr>
            <a:r>
              <a:rPr lang="en-US" sz="2400" dirty="0">
                <a:latin typeface="Times New Roman" panose="02020603050405020304" pitchFamily="18" charset="0"/>
                <a:cs typeface="Times New Roman" panose="02020603050405020304" pitchFamily="18" charset="0"/>
              </a:rPr>
              <a:t>2. Application Layer (Logic Layer)</a:t>
            </a:r>
          </a:p>
          <a:p>
            <a:pPr>
              <a:lnSpc>
                <a:spcPct val="100000"/>
              </a:lnSpc>
            </a:pPr>
            <a:r>
              <a:rPr lang="en-US" sz="2400" dirty="0">
                <a:latin typeface="Times New Roman" panose="02020603050405020304" pitchFamily="18" charset="0"/>
                <a:cs typeface="Times New Roman" panose="02020603050405020304" pitchFamily="18" charset="0"/>
              </a:rPr>
              <a:t>This layer contains the processing logic of the system</a:t>
            </a:r>
          </a:p>
          <a:p>
            <a:pPr>
              <a:lnSpc>
                <a:spcPct val="100000"/>
              </a:lnSpc>
            </a:pPr>
            <a:r>
              <a:rPr lang="en-US" sz="2400" dirty="0">
                <a:latin typeface="Times New Roman" panose="02020603050405020304" pitchFamily="18" charset="0"/>
                <a:cs typeface="Times New Roman" panose="02020603050405020304" pitchFamily="18" charset="0"/>
              </a:rPr>
              <a:t>3. Data Layer (Storage Layer)</a:t>
            </a:r>
          </a:p>
          <a:p>
            <a:pPr>
              <a:lnSpc>
                <a:spcPct val="100000"/>
              </a:lnSpc>
            </a:pPr>
            <a:r>
              <a:rPr lang="en-US" sz="2400" dirty="0">
                <a:latin typeface="Times New Roman" panose="02020603050405020304" pitchFamily="18" charset="0"/>
                <a:cs typeface="Times New Roman" panose="02020603050405020304" pitchFamily="18" charset="0"/>
              </a:rPr>
              <a:t>This layer stores all system data.</a:t>
            </a:r>
          </a:p>
          <a:p>
            <a:pPr>
              <a:lnSpc>
                <a:spcPct val="100000"/>
              </a:lnSpc>
            </a:pPr>
            <a:endParaRPr lang="en-US" sz="11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3489011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9" name="Content Placeholder 8">
            <a:extLst>
              <a:ext uri="{FF2B5EF4-FFF2-40B4-BE49-F238E27FC236}">
                <a16:creationId xmlns:a16="http://schemas.microsoft.com/office/drawing/2014/main" id="{1890F206-B37F-761D-F471-0BF91F889799}"/>
              </a:ext>
            </a:extLst>
          </p:cNvPr>
          <p:cNvSpPr>
            <a:spLocks noGrp="1"/>
          </p:cNvSpPr>
          <p:nvPr>
            <p:ph idx="1"/>
          </p:nvPr>
        </p:nvSpPr>
        <p:spPr>
          <a:xfrm>
            <a:off x="766482" y="1363655"/>
            <a:ext cx="10515600" cy="4351338"/>
          </a:xfrm>
        </p:spPr>
        <p:txBody>
          <a:bodyPr>
            <a:normAutofit fontScale="25000" lnSpcReduction="20000"/>
          </a:bodyPr>
          <a:lstStyle/>
          <a:p>
            <a:pPr marL="0" indent="0">
              <a:lnSpc>
                <a:spcPct val="110000"/>
              </a:lnSpc>
              <a:buNone/>
            </a:pPr>
            <a:r>
              <a:rPr lang="en-US" sz="4800" dirty="0">
                <a:latin typeface="Times New Roman" panose="02020603050405020304" pitchFamily="18" charset="0"/>
                <a:cs typeface="Times New Roman" panose="02020603050405020304" pitchFamily="18" charset="0"/>
              </a:rPr>
              <a:t>Module 1: User Registration Module</a:t>
            </a:r>
          </a:p>
          <a:p>
            <a:pPr>
              <a:lnSpc>
                <a:spcPct val="110000"/>
              </a:lnSpc>
            </a:pPr>
            <a:r>
              <a:rPr lang="en-US" sz="4800" dirty="0">
                <a:latin typeface="Times New Roman" panose="02020603050405020304" pitchFamily="18" charset="0"/>
                <a:cs typeface="Times New Roman" panose="02020603050405020304" pitchFamily="18" charset="0"/>
              </a:rPr>
              <a:t>Allows new users to create an account.</a:t>
            </a:r>
          </a:p>
          <a:p>
            <a:pPr>
              <a:lnSpc>
                <a:spcPct val="110000"/>
              </a:lnSpc>
            </a:pPr>
            <a:r>
              <a:rPr lang="en-US" sz="4800" dirty="0">
                <a:latin typeface="Times New Roman" panose="02020603050405020304" pitchFamily="18" charset="0"/>
                <a:cs typeface="Times New Roman" panose="02020603050405020304" pitchFamily="18" charset="0"/>
              </a:rPr>
              <a:t>Collects user details such as name, email, and password.</a:t>
            </a:r>
          </a:p>
          <a:p>
            <a:pPr>
              <a:lnSpc>
                <a:spcPct val="110000"/>
              </a:lnSpc>
            </a:pPr>
            <a:r>
              <a:rPr lang="en-US" sz="4800" dirty="0">
                <a:latin typeface="Times New Roman" panose="02020603050405020304" pitchFamily="18" charset="0"/>
                <a:cs typeface="Times New Roman" panose="02020603050405020304" pitchFamily="18" charset="0"/>
              </a:rPr>
              <a:t>Module 2: Login Module</a:t>
            </a:r>
          </a:p>
          <a:p>
            <a:pPr>
              <a:lnSpc>
                <a:spcPct val="110000"/>
              </a:lnSpc>
            </a:pPr>
            <a:r>
              <a:rPr lang="en-US" sz="4800" dirty="0">
                <a:latin typeface="Times New Roman" panose="02020603050405020304" pitchFamily="18" charset="0"/>
                <a:cs typeface="Times New Roman" panose="02020603050405020304" pitchFamily="18" charset="0"/>
              </a:rPr>
              <a:t>Authenticates registered users.</a:t>
            </a:r>
          </a:p>
          <a:p>
            <a:pPr>
              <a:lnSpc>
                <a:spcPct val="110000"/>
              </a:lnSpc>
            </a:pPr>
            <a:r>
              <a:rPr lang="en-US" sz="4800" dirty="0">
                <a:latin typeface="Times New Roman" panose="02020603050405020304" pitchFamily="18" charset="0"/>
                <a:cs typeface="Times New Roman" panose="02020603050405020304" pitchFamily="18" charset="0"/>
              </a:rPr>
              <a:t>Allows secure access to the journaling system.</a:t>
            </a:r>
          </a:p>
          <a:p>
            <a:pPr>
              <a:lnSpc>
                <a:spcPct val="110000"/>
              </a:lnSpc>
            </a:pPr>
            <a:r>
              <a:rPr lang="en-US" sz="4800" dirty="0">
                <a:latin typeface="Times New Roman" panose="02020603050405020304" pitchFamily="18" charset="0"/>
                <a:cs typeface="Times New Roman" panose="02020603050405020304" pitchFamily="18" charset="0"/>
              </a:rPr>
              <a:t>Module 3: Daily Reflection Module</a:t>
            </a:r>
          </a:p>
          <a:p>
            <a:pPr>
              <a:lnSpc>
                <a:spcPct val="110000"/>
              </a:lnSpc>
            </a:pPr>
            <a:r>
              <a:rPr lang="en-US" sz="4800" dirty="0">
                <a:latin typeface="Times New Roman" panose="02020603050405020304" pitchFamily="18" charset="0"/>
                <a:cs typeface="Times New Roman" panose="02020603050405020304" pitchFamily="18" charset="0"/>
              </a:rPr>
              <a:t>Users write about how their day went.</a:t>
            </a:r>
          </a:p>
          <a:p>
            <a:pPr>
              <a:lnSpc>
                <a:spcPct val="110000"/>
              </a:lnSpc>
            </a:pPr>
            <a:r>
              <a:rPr lang="en-US" sz="4800" dirty="0">
                <a:latin typeface="Times New Roman" panose="02020603050405020304" pitchFamily="18" charset="0"/>
                <a:cs typeface="Times New Roman" panose="02020603050405020304" pitchFamily="18" charset="0"/>
              </a:rPr>
              <a:t>Helps user's express thoughts and experiences.</a:t>
            </a:r>
          </a:p>
          <a:p>
            <a:pPr>
              <a:lnSpc>
                <a:spcPct val="110000"/>
              </a:lnSpc>
            </a:pPr>
            <a:r>
              <a:rPr lang="en-US" sz="4800" dirty="0">
                <a:latin typeface="Times New Roman" panose="02020603050405020304" pitchFamily="18" charset="0"/>
                <a:cs typeface="Times New Roman" panose="02020603050405020304" pitchFamily="18" charset="0"/>
              </a:rPr>
              <a:t>Module 4: Self-Reflection Module</a:t>
            </a:r>
          </a:p>
          <a:p>
            <a:pPr>
              <a:lnSpc>
                <a:spcPct val="110000"/>
              </a:lnSpc>
            </a:pPr>
            <a:r>
              <a:rPr lang="en-US" sz="4800" dirty="0">
                <a:latin typeface="Times New Roman" panose="02020603050405020304" pitchFamily="18" charset="0"/>
                <a:cs typeface="Times New Roman" panose="02020603050405020304" pitchFamily="18" charset="0"/>
              </a:rPr>
              <a:t>Users answer guided questions:</a:t>
            </a:r>
          </a:p>
          <a:p>
            <a:pPr marL="228600" lvl="1">
              <a:lnSpc>
                <a:spcPct val="110000"/>
              </a:lnSpc>
              <a:spcBef>
                <a:spcPts val="1000"/>
              </a:spcBef>
            </a:pPr>
            <a:r>
              <a:rPr lang="en-US" sz="4800" dirty="0">
                <a:latin typeface="Times New Roman" panose="02020603050405020304" pitchFamily="18" charset="0"/>
                <a:cs typeface="Times New Roman" panose="02020603050405020304" pitchFamily="18" charset="0"/>
              </a:rPr>
              <a:t>How do you feel today?</a:t>
            </a:r>
          </a:p>
          <a:p>
            <a:pPr marL="228600" lvl="1">
              <a:lnSpc>
                <a:spcPct val="110000"/>
              </a:lnSpc>
              <a:spcBef>
                <a:spcPts val="1000"/>
              </a:spcBef>
            </a:pPr>
            <a:r>
              <a:rPr lang="en-US" sz="4800" dirty="0">
                <a:latin typeface="Times New Roman" panose="02020603050405020304" pitchFamily="18" charset="0"/>
                <a:cs typeface="Times New Roman" panose="02020603050405020304" pitchFamily="18" charset="0"/>
              </a:rPr>
              <a:t>What did you learn today?</a:t>
            </a:r>
          </a:p>
          <a:p>
            <a:pPr marL="228600" lvl="1">
              <a:lnSpc>
                <a:spcPct val="110000"/>
              </a:lnSpc>
              <a:spcBef>
                <a:spcPts val="1000"/>
              </a:spcBef>
            </a:pPr>
            <a:r>
              <a:rPr lang="en-US" sz="4800" dirty="0">
                <a:latin typeface="Times New Roman" panose="02020603050405020304" pitchFamily="18" charset="0"/>
                <a:cs typeface="Times New Roman" panose="02020603050405020304" pitchFamily="18" charset="0"/>
              </a:rPr>
              <a:t>What changes do you want to make?</a:t>
            </a:r>
          </a:p>
          <a:p>
            <a:pPr marL="228600" lvl="1">
              <a:lnSpc>
                <a:spcPct val="110000"/>
              </a:lnSpc>
              <a:spcBef>
                <a:spcPts val="1000"/>
              </a:spcBef>
            </a:pPr>
            <a:r>
              <a:rPr lang="en-US" sz="4800" dirty="0">
                <a:latin typeface="Times New Roman" panose="02020603050405020304" pitchFamily="18" charset="0"/>
                <a:cs typeface="Times New Roman" panose="02020603050405020304" pitchFamily="18" charset="0"/>
              </a:rPr>
              <a:t>How do you want to improve yourself?</a:t>
            </a:r>
          </a:p>
          <a:p>
            <a:pPr>
              <a:lnSpc>
                <a:spcPct val="110000"/>
              </a:lnSpc>
            </a:pPr>
            <a:r>
              <a:rPr lang="en-US" sz="4800" dirty="0">
                <a:latin typeface="Times New Roman" panose="02020603050405020304" pitchFamily="18" charset="0"/>
                <a:cs typeface="Times New Roman" panose="02020603050405020304" pitchFamily="18" charset="0"/>
              </a:rPr>
              <a:t>Module 5: Journal Storage Module</a:t>
            </a:r>
          </a:p>
          <a:p>
            <a:pPr>
              <a:lnSpc>
                <a:spcPct val="110000"/>
              </a:lnSpc>
            </a:pPr>
            <a:r>
              <a:rPr lang="en-US" sz="4800" dirty="0">
                <a:latin typeface="Times New Roman" panose="02020603050405020304" pitchFamily="18" charset="0"/>
                <a:cs typeface="Times New Roman" panose="02020603050405020304" pitchFamily="18" charset="0"/>
              </a:rPr>
              <a:t>Stores user reflections.</a:t>
            </a:r>
          </a:p>
          <a:p>
            <a:pPr>
              <a:lnSpc>
                <a:spcPct val="110000"/>
              </a:lnSpc>
            </a:pPr>
            <a:r>
              <a:rPr lang="en-US" sz="4800" dirty="0">
                <a:latin typeface="Times New Roman" panose="02020603050405020304" pitchFamily="18" charset="0"/>
                <a:cs typeface="Times New Roman" panose="02020603050405020304" pitchFamily="18" charset="0"/>
              </a:rPr>
              <a:t>Maintains a history of journal entrie</a:t>
            </a:r>
            <a:r>
              <a:rPr lang="en-US" sz="4800" dirty="0">
                <a:solidFill>
                  <a:schemeClr val="tx1">
                    <a:alpha val="70000"/>
                  </a:schemeClr>
                </a:solidFill>
                <a:latin typeface="Times New Roman" panose="02020603050405020304" pitchFamily="18" charset="0"/>
                <a:cs typeface="Times New Roman" panose="02020603050405020304" pitchFamily="18" charset="0"/>
              </a:rPr>
              <a:t>s.</a:t>
            </a:r>
          </a:p>
          <a:p>
            <a:endParaRPr lang="en-US" dirty="0"/>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4072965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9" name="Content Placeholder 8">
            <a:extLst>
              <a:ext uri="{FF2B5EF4-FFF2-40B4-BE49-F238E27FC236}">
                <a16:creationId xmlns:a16="http://schemas.microsoft.com/office/drawing/2014/main" id="{363C44B8-E8B6-5D9D-90FF-ECD825D72DFC}"/>
              </a:ext>
            </a:extLst>
          </p:cNvPr>
          <p:cNvSpPr>
            <a:spLocks noGrp="1"/>
          </p:cNvSpPr>
          <p:nvPr>
            <p:ph idx="1"/>
          </p:nvPr>
        </p:nvSpPr>
        <p:spPr/>
        <p:txBody>
          <a:bodyPr>
            <a:normAutofit fontScale="77500" lnSpcReduction="20000"/>
          </a:bodyPr>
          <a:lstStyle/>
          <a:p>
            <a:pPr fontAlgn="base">
              <a:lnSpc>
                <a:spcPct val="120000"/>
              </a:lnSpc>
              <a:spcAft>
                <a:spcPct val="0"/>
              </a:spcAft>
            </a:pPr>
            <a:r>
              <a:rPr lang="en-US" altLang="en-US" sz="2600" dirty="0">
                <a:latin typeface="Times New Roman" panose="02020603050405020304" pitchFamily="18" charset="0"/>
                <a:cs typeface="Times New Roman" panose="02020603050405020304" pitchFamily="18" charset="0"/>
              </a:rPr>
              <a:t>To provide a digital journaling platform where users can register and record their daily reflections and thoughts easily.</a:t>
            </a:r>
          </a:p>
          <a:p>
            <a:pPr marR="0" lvl="0" fontAlgn="base">
              <a:lnSpc>
                <a:spcPct val="120000"/>
              </a:lnSpc>
              <a:spcAft>
                <a:spcPct val="0"/>
              </a:spcAft>
              <a:buClrTx/>
              <a:buSzTx/>
              <a:tabLst/>
            </a:pPr>
            <a:r>
              <a:rPr lang="en-US" altLang="en-US" sz="2600" dirty="0">
                <a:latin typeface="Times New Roman" panose="02020603050405020304" pitchFamily="18" charset="0"/>
                <a:cs typeface="Times New Roman" panose="02020603050405020304" pitchFamily="18" charset="0"/>
              </a:rPr>
              <a:t>To encourage self-reflection and personal growth by allowing users to write about their feelings, lessons learned, and improvements they want to make in themselves.</a:t>
            </a:r>
          </a:p>
          <a:p>
            <a:pPr marR="0" lvl="0" fontAlgn="base">
              <a:lnSpc>
                <a:spcPct val="120000"/>
              </a:lnSpc>
              <a:spcAft>
                <a:spcPct val="0"/>
              </a:spcAft>
              <a:buClrTx/>
              <a:buSzTx/>
              <a:tabLst/>
            </a:pPr>
            <a:r>
              <a:rPr lang="en-US" altLang="en-US" sz="2600" dirty="0">
                <a:latin typeface="Times New Roman" panose="02020603050405020304" pitchFamily="18" charset="0"/>
                <a:cs typeface="Times New Roman" panose="02020603050405020304" pitchFamily="18" charset="0"/>
              </a:rPr>
              <a:t>To organize journal entries efficiently using Data Structures concepts such as lists, stacks, and queues for storing and managing user data.</a:t>
            </a:r>
          </a:p>
          <a:p>
            <a:pPr marR="0" lvl="0" fontAlgn="base">
              <a:lnSpc>
                <a:spcPct val="120000"/>
              </a:lnSpc>
              <a:spcAft>
                <a:spcPct val="0"/>
              </a:spcAft>
              <a:buClrTx/>
              <a:buSzTx/>
              <a:tabLst/>
            </a:pPr>
            <a:r>
              <a:rPr lang="en-US" altLang="en-US" sz="2600" dirty="0">
                <a:latin typeface="Times New Roman" panose="02020603050405020304" pitchFamily="18" charset="0"/>
                <a:cs typeface="Times New Roman" panose="02020603050405020304" pitchFamily="18" charset="0"/>
              </a:rPr>
              <a:t>To enable efficient searching and sorting of journal entries using algorithms like Linear Search, Binary Search, and Sorting techniques.</a:t>
            </a:r>
          </a:p>
          <a:p>
            <a:pPr marR="0" lvl="0" fontAlgn="base">
              <a:lnSpc>
                <a:spcPct val="120000"/>
              </a:lnSpc>
              <a:spcAft>
                <a:spcPct val="0"/>
              </a:spcAft>
              <a:buClrTx/>
              <a:buSzTx/>
              <a:tabLst/>
            </a:pPr>
            <a:r>
              <a:rPr lang="en-US" altLang="en-US" sz="2600" dirty="0">
                <a:latin typeface="Times New Roman" panose="02020603050405020304" pitchFamily="18" charset="0"/>
                <a:cs typeface="Times New Roman" panose="02020603050405020304" pitchFamily="18" charset="0"/>
              </a:rPr>
              <a:t>To provide a structured writing flow where users first reflect on their day and then move to another page to describe emotions, learning experiences, and personal development goals.</a:t>
            </a:r>
          </a:p>
          <a:p>
            <a:pPr marR="0" lvl="0" fontAlgn="base">
              <a:lnSpc>
                <a:spcPct val="120000"/>
              </a:lnSpc>
              <a:spcAft>
                <a:spcPct val="0"/>
              </a:spcAft>
              <a:buClrTx/>
              <a:buSzTx/>
              <a:tabLst/>
            </a:pPr>
            <a:r>
              <a:rPr lang="en-US" altLang="en-US" sz="2600" dirty="0">
                <a:latin typeface="Times New Roman" panose="02020603050405020304" pitchFamily="18" charset="0"/>
                <a:cs typeface="Times New Roman" panose="02020603050405020304" pitchFamily="18" charset="0"/>
              </a:rPr>
              <a:t>To build an interactive and user-friendly journaling system</a:t>
            </a:r>
          </a:p>
          <a:p>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1263985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t>Co’s Attainments - FWD</a:t>
            </a:r>
          </a:p>
        </p:txBody>
      </p:sp>
      <p:sp>
        <p:nvSpPr>
          <p:cNvPr id="9" name="Content Placeholder 8">
            <a:extLst>
              <a:ext uri="{FF2B5EF4-FFF2-40B4-BE49-F238E27FC236}">
                <a16:creationId xmlns:a16="http://schemas.microsoft.com/office/drawing/2014/main" id="{8769557B-A6AB-F48D-9A16-51F755A17BB7}"/>
              </a:ext>
            </a:extLst>
          </p:cNvPr>
          <p:cNvSpPr>
            <a:spLocks noGrp="1"/>
          </p:cNvSpPr>
          <p:nvPr>
            <p:ph idx="1"/>
          </p:nvPr>
        </p:nvSpPr>
        <p:spPr>
          <a:xfrm>
            <a:off x="632012" y="1664260"/>
            <a:ext cx="10515600" cy="4351338"/>
          </a:xfrm>
        </p:spPr>
        <p:txBody>
          <a:bodyPr>
            <a:normAutofit fontScale="25000" lnSpcReduction="20000"/>
          </a:bodyPr>
          <a:lstStyle/>
          <a:p>
            <a:r>
              <a:rPr lang="en-IN" sz="4400" b="1" dirty="0"/>
              <a:t>CO1</a:t>
            </a:r>
            <a:endParaRPr lang="en-IN" sz="4400" dirty="0"/>
          </a:p>
          <a:p>
            <a:r>
              <a:rPr lang="en-IN" sz="4400" dirty="0"/>
              <a:t>Understand Internet fundamentals, HTTP/HTTPS protocols, and web client-server architecture.</a:t>
            </a:r>
          </a:p>
          <a:p>
            <a:r>
              <a:rPr lang="en-IN" sz="4400" dirty="0"/>
              <a:t>Explain browser functionality, developer tools, web hosting, and domain concepts.</a:t>
            </a:r>
          </a:p>
          <a:p>
            <a:r>
              <a:rPr lang="en-IN" sz="4400" dirty="0"/>
              <a:t>Apply HTML document structure and basic webpage elements such as lists, links, and images.</a:t>
            </a:r>
          </a:p>
          <a:p>
            <a:r>
              <a:rPr lang="en-IN" sz="4400" b="1" dirty="0"/>
              <a:t>CO2</a:t>
            </a:r>
            <a:endParaRPr lang="en-IN" sz="4400" dirty="0"/>
          </a:p>
          <a:p>
            <a:r>
              <a:rPr lang="en-IN" sz="4400" dirty="0"/>
              <a:t>Design structured web pages using HTML forms, semantic tags, tables, and media elements.</a:t>
            </a:r>
          </a:p>
          <a:p>
            <a:r>
              <a:rPr lang="en-IN" sz="4400" dirty="0"/>
              <a:t>Apply CSS styling techniques including selectors, typography, </a:t>
            </a:r>
            <a:r>
              <a:rPr lang="en-IN" sz="4400" dirty="0" err="1"/>
              <a:t>colors</a:t>
            </a:r>
            <a:r>
              <a:rPr lang="en-IN" sz="4400" dirty="0"/>
              <a:t>, and spacing.</a:t>
            </a:r>
          </a:p>
          <a:p>
            <a:r>
              <a:rPr lang="en-IN" sz="4400" dirty="0"/>
              <a:t>Implement modern layout techniques using Flexbox, CSS Grid, and responsive design.</a:t>
            </a:r>
          </a:p>
          <a:p>
            <a:r>
              <a:rPr lang="en-IN" sz="4400" b="1" dirty="0"/>
              <a:t>CO3</a:t>
            </a:r>
            <a:endParaRPr lang="en-IN" sz="4400" dirty="0"/>
          </a:p>
          <a:p>
            <a:r>
              <a:rPr lang="en-IN" sz="4400" dirty="0"/>
              <a:t>Apply JavaScript fundamentals including variables, operators, conditions, loops, and functions.</a:t>
            </a:r>
          </a:p>
          <a:p>
            <a:r>
              <a:rPr lang="en-IN" sz="4400" dirty="0"/>
              <a:t>Work with arrays, objects, and ES6 features for efficient programming.</a:t>
            </a:r>
          </a:p>
          <a:p>
            <a:r>
              <a:rPr lang="en-IN" sz="4400" dirty="0"/>
              <a:t>Implement functional programming concepts such as arrow functions and callbacks.</a:t>
            </a:r>
          </a:p>
          <a:p>
            <a:r>
              <a:rPr lang="en-IN" sz="4400" b="1" dirty="0"/>
              <a:t>CO4</a:t>
            </a:r>
            <a:endParaRPr lang="en-IN" sz="4400" dirty="0"/>
          </a:p>
          <a:p>
            <a:r>
              <a:rPr lang="en-IN" sz="4400" dirty="0"/>
              <a:t>Perform DOM manipulation and event handling to create dynamic web pages.</a:t>
            </a:r>
          </a:p>
          <a:p>
            <a:r>
              <a:rPr lang="en-IN" sz="4400" dirty="0"/>
              <a:t>Use browser storage such as </a:t>
            </a:r>
            <a:r>
              <a:rPr lang="en-IN" sz="4400" dirty="0" err="1"/>
              <a:t>localStorage</a:t>
            </a:r>
            <a:r>
              <a:rPr lang="en-IN" sz="4400" dirty="0"/>
              <a:t> and </a:t>
            </a:r>
            <a:r>
              <a:rPr lang="en-IN" sz="4400" dirty="0" err="1"/>
              <a:t>sessionStorage</a:t>
            </a:r>
            <a:r>
              <a:rPr lang="en-IN" sz="4400" dirty="0"/>
              <a:t> for client-side data.</a:t>
            </a:r>
          </a:p>
          <a:p>
            <a:r>
              <a:rPr lang="en-IN" sz="4400" dirty="0"/>
              <a:t>Implement asynchronous programming using Promises, fetch(), async, and await.</a:t>
            </a:r>
          </a:p>
          <a:p>
            <a:r>
              <a:rPr lang="en-IN" sz="4400" b="1" dirty="0"/>
              <a:t>CO5</a:t>
            </a:r>
            <a:endParaRPr lang="en-IN" sz="4400" dirty="0"/>
          </a:p>
          <a:p>
            <a:r>
              <a:rPr lang="en-IN" sz="4400" dirty="0"/>
              <a:t>Implement form validation and API integration using JavaScript.</a:t>
            </a:r>
          </a:p>
          <a:p>
            <a:r>
              <a:rPr lang="en-IN" sz="4400" dirty="0"/>
              <a:t>Apply performance optimization techniques and SEO practices for web applications.</a:t>
            </a:r>
          </a:p>
          <a:p>
            <a:r>
              <a:rPr lang="en-IN" sz="4400" dirty="0"/>
              <a:t>Deploy responsive and interactive web applications with improved usability.</a:t>
            </a:r>
          </a:p>
          <a:p>
            <a:pPr marL="0" indent="0">
              <a:buNone/>
            </a:pPr>
            <a:endParaRPr lang="en-US" dirty="0"/>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1906946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E0E9F0-7414-F19D-A367-C4D70D67BCB3}"/>
              </a:ext>
            </a:extLst>
          </p:cNvPr>
          <p:cNvSpPr>
            <a:spLocks noGrp="1"/>
          </p:cNvSpPr>
          <p:nvPr>
            <p:ph type="title"/>
          </p:nvPr>
        </p:nvSpPr>
        <p:spPr>
          <a:xfrm>
            <a:off x="1180618" y="365125"/>
            <a:ext cx="10173182" cy="1128009"/>
          </a:xfrm>
        </p:spPr>
        <p:txBody>
          <a:bodyPr/>
          <a:lstStyle/>
          <a:p>
            <a:pPr algn="ctr"/>
            <a:r>
              <a:rPr lang="en-US" b="1" dirty="0"/>
              <a:t>Co’s Attainments - DSA</a:t>
            </a:r>
          </a:p>
        </p:txBody>
      </p:sp>
      <p:sp>
        <p:nvSpPr>
          <p:cNvPr id="9" name="Content Placeholder 8">
            <a:extLst>
              <a:ext uri="{FF2B5EF4-FFF2-40B4-BE49-F238E27FC236}">
                <a16:creationId xmlns:a16="http://schemas.microsoft.com/office/drawing/2014/main" id="{6726AE93-69A8-DC85-DA45-05F4D66EF996}"/>
              </a:ext>
            </a:extLst>
          </p:cNvPr>
          <p:cNvSpPr>
            <a:spLocks noGrp="1"/>
          </p:cNvSpPr>
          <p:nvPr>
            <p:ph idx="1"/>
          </p:nvPr>
        </p:nvSpPr>
        <p:spPr>
          <a:xfrm>
            <a:off x="766483" y="1493134"/>
            <a:ext cx="10515600" cy="4351338"/>
          </a:xfrm>
        </p:spPr>
        <p:txBody>
          <a:bodyPr>
            <a:normAutofit fontScale="25000" lnSpcReduction="20000"/>
          </a:bodyPr>
          <a:lstStyle/>
          <a:p>
            <a:r>
              <a:rPr lang="en-US" sz="4800" b="1" dirty="0"/>
              <a:t>CO1</a:t>
            </a:r>
            <a:endParaRPr lang="en-US" sz="4800" dirty="0"/>
          </a:p>
          <a:p>
            <a:r>
              <a:rPr lang="en-US" sz="4800" dirty="0"/>
              <a:t>Analyze problem statements using asymptotic notation (Big-O, Ω, Θ).</a:t>
            </a:r>
          </a:p>
          <a:p>
            <a:r>
              <a:rPr lang="en-US" sz="4800" dirty="0"/>
              <a:t>Compare algorithm efficiency based on time and space complexity.</a:t>
            </a:r>
          </a:p>
          <a:p>
            <a:r>
              <a:rPr lang="en-US" sz="4800" dirty="0"/>
              <a:t>Implement and evaluate searching and sorting algorithms in Java.</a:t>
            </a:r>
          </a:p>
          <a:p>
            <a:r>
              <a:rPr lang="en-US" sz="4800" b="1" dirty="0"/>
              <a:t>CO2</a:t>
            </a:r>
          </a:p>
          <a:p>
            <a:r>
              <a:rPr lang="en-US" sz="4800" dirty="0"/>
              <a:t>Design and implement Abstract Data Types (ADTs) using arrays and linked lists.</a:t>
            </a:r>
          </a:p>
          <a:p>
            <a:r>
              <a:rPr lang="en-US" sz="4800" dirty="0"/>
              <a:t>Perform operations such as insertion, deletion, searching, and traversal.</a:t>
            </a:r>
          </a:p>
          <a:p>
            <a:r>
              <a:rPr lang="en-US" sz="4800" dirty="0"/>
              <a:t>Evaluate advantages and limitations of different data structures.</a:t>
            </a:r>
          </a:p>
          <a:p>
            <a:r>
              <a:rPr lang="en-US" sz="4800" b="1" dirty="0"/>
              <a:t>CO3</a:t>
            </a:r>
          </a:p>
          <a:p>
            <a:r>
              <a:rPr lang="en-US" sz="4800" dirty="0"/>
              <a:t>Apply stacks and queues to solve real-world workflow problems.</a:t>
            </a:r>
          </a:p>
          <a:p>
            <a:r>
              <a:rPr lang="en-US" sz="4800" dirty="0"/>
              <a:t>Implement circular queues, deques, heaps, and priority queues.</a:t>
            </a:r>
          </a:p>
          <a:p>
            <a:r>
              <a:rPr lang="en-US" sz="4800" dirty="0"/>
              <a:t>Analyze performance compared to other linear data structures.</a:t>
            </a:r>
          </a:p>
          <a:p>
            <a:r>
              <a:rPr lang="en-US" sz="4800" b="1" dirty="0"/>
              <a:t>CO4</a:t>
            </a:r>
          </a:p>
          <a:p>
            <a:r>
              <a:rPr lang="en-US" sz="4800" dirty="0"/>
              <a:t>Design hash-based data structures using hashing techniques.</a:t>
            </a:r>
          </a:p>
          <a:p>
            <a:r>
              <a:rPr lang="en-US" sz="4800" dirty="0"/>
              <a:t>Implement hash tables with chaining and open addressing.</a:t>
            </a:r>
          </a:p>
          <a:p>
            <a:r>
              <a:rPr lang="en-US" sz="4800" dirty="0"/>
              <a:t>Utilize Java Collections (List, Queue, Deque, Map) for efficient solutions.</a:t>
            </a:r>
          </a:p>
          <a:p>
            <a:r>
              <a:rPr lang="en-US" sz="4800" b="1" dirty="0"/>
              <a:t>CO5</a:t>
            </a:r>
          </a:p>
          <a:p>
            <a:r>
              <a:rPr lang="en-US" sz="4800" dirty="0"/>
              <a:t>Develop practical applications using linear data structures.</a:t>
            </a:r>
          </a:p>
          <a:p>
            <a:r>
              <a:rPr lang="en-US" sz="4800" dirty="0"/>
              <a:t>Implement data structures to solve real-world computational problems</a:t>
            </a:r>
            <a:r>
              <a:rPr lang="en-US" sz="4400" dirty="0"/>
              <a:t>.</a:t>
            </a:r>
          </a:p>
          <a:p>
            <a:pPr marL="0" indent="0">
              <a:buNone/>
            </a:pPr>
            <a:endParaRPr lang="en-US" sz="1400" b="1" dirty="0"/>
          </a:p>
        </p:txBody>
      </p:sp>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344365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p:txBody>
          <a:bodyPr/>
          <a:lstStyle/>
          <a:p>
            <a:r>
              <a:rPr lang="en-US" dirty="0"/>
              <a:t>Screenshots for FWD &amp; DSA</a:t>
            </a:r>
          </a:p>
        </p:txBody>
      </p:sp>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16" name="Content Placeholder 15">
            <a:extLst>
              <a:ext uri="{FF2B5EF4-FFF2-40B4-BE49-F238E27FC236}">
                <a16:creationId xmlns:a16="http://schemas.microsoft.com/office/drawing/2014/main" id="{C8FA94FC-107F-37B2-9927-96B4F4648DA7}"/>
              </a:ext>
            </a:extLst>
          </p:cNvPr>
          <p:cNvPicPr>
            <a:picLocks noGrp="1" noChangeAspect="1"/>
          </p:cNvPicPr>
          <p:nvPr>
            <p:ph idx="1"/>
          </p:nvPr>
        </p:nvPicPr>
        <p:blipFill>
          <a:blip r:embed="rId2"/>
          <a:stretch>
            <a:fillRect/>
          </a:stretch>
        </p:blipFill>
        <p:spPr>
          <a:xfrm>
            <a:off x="1295400" y="1529788"/>
            <a:ext cx="2743200" cy="2280211"/>
          </a:xfrm>
          <a:prstGeom prst="rect">
            <a:avLst/>
          </a:prstGeom>
        </p:spPr>
      </p:pic>
      <p:pic>
        <p:nvPicPr>
          <p:cNvPr id="18" name="Picture 17">
            <a:extLst>
              <a:ext uri="{FF2B5EF4-FFF2-40B4-BE49-F238E27FC236}">
                <a16:creationId xmlns:a16="http://schemas.microsoft.com/office/drawing/2014/main" id="{36492AEF-1D8B-5458-0B45-F16D3FD653A7}"/>
              </a:ext>
            </a:extLst>
          </p:cNvPr>
          <p:cNvPicPr>
            <a:picLocks noChangeAspect="1"/>
          </p:cNvPicPr>
          <p:nvPr/>
        </p:nvPicPr>
        <p:blipFill>
          <a:blip r:embed="rId3"/>
          <a:stretch>
            <a:fillRect/>
          </a:stretch>
        </p:blipFill>
        <p:spPr>
          <a:xfrm>
            <a:off x="4849906" y="1529788"/>
            <a:ext cx="3083859" cy="2280211"/>
          </a:xfrm>
          <a:prstGeom prst="rect">
            <a:avLst/>
          </a:prstGeom>
        </p:spPr>
      </p:pic>
      <p:pic>
        <p:nvPicPr>
          <p:cNvPr id="20" name="Picture 19">
            <a:extLst>
              <a:ext uri="{FF2B5EF4-FFF2-40B4-BE49-F238E27FC236}">
                <a16:creationId xmlns:a16="http://schemas.microsoft.com/office/drawing/2014/main" id="{453E81D0-462B-FE7B-8BA4-4E676BEAAC6D}"/>
              </a:ext>
            </a:extLst>
          </p:cNvPr>
          <p:cNvPicPr>
            <a:picLocks noChangeAspect="1"/>
          </p:cNvPicPr>
          <p:nvPr/>
        </p:nvPicPr>
        <p:blipFill>
          <a:blip r:embed="rId4"/>
          <a:stretch>
            <a:fillRect/>
          </a:stretch>
        </p:blipFill>
        <p:spPr>
          <a:xfrm>
            <a:off x="1532965" y="4237038"/>
            <a:ext cx="2626659" cy="1872593"/>
          </a:xfrm>
          <a:prstGeom prst="rect">
            <a:avLst/>
          </a:prstGeom>
        </p:spPr>
      </p:pic>
      <p:pic>
        <p:nvPicPr>
          <p:cNvPr id="22" name="Picture 21">
            <a:extLst>
              <a:ext uri="{FF2B5EF4-FFF2-40B4-BE49-F238E27FC236}">
                <a16:creationId xmlns:a16="http://schemas.microsoft.com/office/drawing/2014/main" id="{77362DB9-2052-B608-4825-2E0B2419B332}"/>
              </a:ext>
            </a:extLst>
          </p:cNvPr>
          <p:cNvPicPr>
            <a:picLocks noChangeAspect="1"/>
          </p:cNvPicPr>
          <p:nvPr/>
        </p:nvPicPr>
        <p:blipFill>
          <a:blip r:embed="rId5"/>
          <a:stretch>
            <a:fillRect/>
          </a:stretch>
        </p:blipFill>
        <p:spPr>
          <a:xfrm>
            <a:off x="4852654" y="4148205"/>
            <a:ext cx="3179724" cy="2050257"/>
          </a:xfrm>
          <a:prstGeom prst="rect">
            <a:avLst/>
          </a:prstGeom>
        </p:spPr>
      </p:pic>
      <p:pic>
        <p:nvPicPr>
          <p:cNvPr id="24" name="Picture 23">
            <a:extLst>
              <a:ext uri="{FF2B5EF4-FFF2-40B4-BE49-F238E27FC236}">
                <a16:creationId xmlns:a16="http://schemas.microsoft.com/office/drawing/2014/main" id="{EBDCA693-AE3A-1EFF-CB1A-6D869F1C5CFE}"/>
              </a:ext>
            </a:extLst>
          </p:cNvPr>
          <p:cNvPicPr>
            <a:picLocks noChangeAspect="1"/>
          </p:cNvPicPr>
          <p:nvPr/>
        </p:nvPicPr>
        <p:blipFill>
          <a:blip r:embed="rId6"/>
          <a:stretch>
            <a:fillRect/>
          </a:stretch>
        </p:blipFill>
        <p:spPr>
          <a:xfrm>
            <a:off x="8238564" y="1407006"/>
            <a:ext cx="3672187" cy="2280211"/>
          </a:xfrm>
          <a:prstGeom prst="rect">
            <a:avLst/>
          </a:prstGeom>
        </p:spPr>
      </p:pic>
      <p:pic>
        <p:nvPicPr>
          <p:cNvPr id="26" name="Picture 25">
            <a:extLst>
              <a:ext uri="{FF2B5EF4-FFF2-40B4-BE49-F238E27FC236}">
                <a16:creationId xmlns:a16="http://schemas.microsoft.com/office/drawing/2014/main" id="{498425F2-04FC-785E-CE4E-8C0F642B0A5E}"/>
              </a:ext>
            </a:extLst>
          </p:cNvPr>
          <p:cNvPicPr>
            <a:picLocks noChangeAspect="1"/>
          </p:cNvPicPr>
          <p:nvPr/>
        </p:nvPicPr>
        <p:blipFill>
          <a:blip r:embed="rId7"/>
          <a:stretch>
            <a:fillRect/>
          </a:stretch>
        </p:blipFill>
        <p:spPr>
          <a:xfrm>
            <a:off x="8238563" y="4217191"/>
            <a:ext cx="3836895" cy="1912284"/>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9" name="Content Placeholder 8">
            <a:extLst>
              <a:ext uri="{FF2B5EF4-FFF2-40B4-BE49-F238E27FC236}">
                <a16:creationId xmlns:a16="http://schemas.microsoft.com/office/drawing/2014/main" id="{956E9376-CB4B-895B-7B5C-D2F5AAED7494}"/>
              </a:ext>
            </a:extLst>
          </p:cNvPr>
          <p:cNvSpPr>
            <a:spLocks noGrp="1"/>
          </p:cNvSpPr>
          <p:nvPr>
            <p:ph idx="1"/>
          </p:nvPr>
        </p:nvSpPr>
        <p:spPr/>
        <p:txBody>
          <a:bodyPr>
            <a:normAutofit fontScale="70000" lnSpcReduction="20000"/>
          </a:bodyPr>
          <a:lstStyle/>
          <a:p>
            <a:pPr>
              <a:lnSpc>
                <a:spcPct val="120000"/>
              </a:lnSpc>
            </a:pPr>
            <a:r>
              <a:rPr lang="en-US" dirty="0">
                <a:latin typeface="Times New Roman" panose="02020603050405020304" pitchFamily="18" charset="0"/>
                <a:cs typeface="Times New Roman" panose="02020603050405020304" pitchFamily="18" charset="0"/>
              </a:rPr>
              <a:t>The journal web page provides a simple and organized platform for users to record their daily thoughts and reflections.</a:t>
            </a:r>
          </a:p>
          <a:p>
            <a:pPr>
              <a:lnSpc>
                <a:spcPct val="120000"/>
              </a:lnSpc>
            </a:pPr>
            <a:r>
              <a:rPr lang="en-US" dirty="0">
                <a:latin typeface="Times New Roman" panose="02020603050405020304" pitchFamily="18" charset="0"/>
                <a:cs typeface="Times New Roman" panose="02020603050405020304" pitchFamily="18" charset="0"/>
              </a:rPr>
              <a:t> The system helps users express their feelings, understand their experiences, and think about personal improvement.</a:t>
            </a:r>
          </a:p>
          <a:p>
            <a:pPr>
              <a:lnSpc>
                <a:spcPct val="120000"/>
              </a:lnSpc>
            </a:pPr>
            <a:r>
              <a:rPr lang="en-US" dirty="0">
                <a:latin typeface="Times New Roman" panose="02020603050405020304" pitchFamily="18" charset="0"/>
                <a:cs typeface="Times New Roman" panose="02020603050405020304" pitchFamily="18" charset="0"/>
              </a:rPr>
              <a:t> The structured writing process encourages users to reflect on their day, identify what they learned, and plan positive changes for the future.</a:t>
            </a:r>
          </a:p>
          <a:p>
            <a:pPr>
              <a:lnSpc>
                <a:spcPct val="120000"/>
              </a:lnSpc>
            </a:pPr>
            <a:r>
              <a:rPr lang="en-US" dirty="0">
                <a:latin typeface="Times New Roman" panose="02020603050405020304" pitchFamily="18" charset="0"/>
                <a:cs typeface="Times New Roman" panose="02020603050405020304" pitchFamily="18" charset="0"/>
              </a:rPr>
              <a:t>The application creates a private and comfortable space for thoughtful writing and self-expression.</a:t>
            </a:r>
          </a:p>
          <a:p>
            <a:pPr>
              <a:lnSpc>
                <a:spcPct val="120000"/>
              </a:lnSpc>
            </a:pPr>
            <a:r>
              <a:rPr lang="en-US" dirty="0">
                <a:latin typeface="Times New Roman" panose="02020603050405020304" pitchFamily="18" charset="0"/>
                <a:cs typeface="Times New Roman" panose="02020603050405020304" pitchFamily="18" charset="0"/>
              </a:rPr>
              <a:t> This project demonstrates how a digital journaling system can support self-awareness, emotional well-being, and personal growth.</a:t>
            </a:r>
          </a:p>
          <a:p>
            <a:pPr>
              <a:lnSpc>
                <a:spcPct val="120000"/>
              </a:lnSpc>
            </a:pPr>
            <a:r>
              <a:rPr lang="en-US" dirty="0">
                <a:latin typeface="Times New Roman" panose="02020603050405020304" pitchFamily="18" charset="0"/>
                <a:cs typeface="Times New Roman" panose="02020603050405020304" pitchFamily="18" charset="0"/>
              </a:rPr>
              <a:t>Overall, the journal web page serves as a useful tool for maintaining daily reflections and developing better self-understanding.</a:t>
            </a:r>
          </a:p>
          <a:p>
            <a:pPr marL="0" indent="0">
              <a:buNone/>
            </a:pPr>
            <a:endParaRPr lang="en-US" b="1" dirty="0"/>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13</a:t>
            </a:fld>
            <a:endParaRPr lang="en-US"/>
          </a:p>
        </p:txBody>
      </p:sp>
    </p:spTree>
    <p:extLst>
      <p:ext uri="{BB962C8B-B14F-4D97-AF65-F5344CB8AC3E}">
        <p14:creationId xmlns:p14="http://schemas.microsoft.com/office/powerpoint/2010/main" val="2858912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r>
              <a:rPr lang="en-US" dirty="0"/>
              <a:t>Geo- Tag Photos</a:t>
            </a:r>
          </a:p>
        </p:txBody>
      </p:sp>
      <p:pic>
        <p:nvPicPr>
          <p:cNvPr id="8" name="Content Placeholder 7">
            <a:extLst>
              <a:ext uri="{FF2B5EF4-FFF2-40B4-BE49-F238E27FC236}">
                <a16:creationId xmlns:a16="http://schemas.microsoft.com/office/drawing/2014/main" id="{91CCE3BD-EFE7-EF74-8AE3-B6147F0A8BFC}"/>
              </a:ext>
            </a:extLst>
          </p:cNvPr>
          <p:cNvPicPr>
            <a:picLocks noGrp="1" noChangeAspect="1"/>
          </p:cNvPicPr>
          <p:nvPr>
            <p:ph idx="1"/>
          </p:nvPr>
        </p:nvPicPr>
        <p:blipFill>
          <a:blip r:embed="rId2"/>
          <a:stretch>
            <a:fillRect/>
          </a:stretch>
        </p:blipFill>
        <p:spPr>
          <a:xfrm>
            <a:off x="685625" y="1918446"/>
            <a:ext cx="3949127" cy="1972235"/>
          </a:xfrm>
          <a:prstGeom prst="rect">
            <a:avLst/>
          </a:prstGeom>
        </p:spPr>
      </p:pic>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a:xfrm>
            <a:off x="4038600" y="6257738"/>
            <a:ext cx="4114800" cy="365125"/>
          </a:xfrm>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14</a:t>
            </a:fld>
            <a:endParaRPr lang="en-US"/>
          </a:p>
        </p:txBody>
      </p:sp>
      <p:pic>
        <p:nvPicPr>
          <p:cNvPr id="14" name="Picture 13">
            <a:extLst>
              <a:ext uri="{FF2B5EF4-FFF2-40B4-BE49-F238E27FC236}">
                <a16:creationId xmlns:a16="http://schemas.microsoft.com/office/drawing/2014/main" id="{BAA8942C-95DB-7EF8-FA4B-304DF04D409F}"/>
              </a:ext>
            </a:extLst>
          </p:cNvPr>
          <p:cNvPicPr>
            <a:picLocks noChangeAspect="1"/>
          </p:cNvPicPr>
          <p:nvPr/>
        </p:nvPicPr>
        <p:blipFill>
          <a:blip r:embed="rId3"/>
          <a:stretch>
            <a:fillRect/>
          </a:stretch>
        </p:blipFill>
        <p:spPr>
          <a:xfrm>
            <a:off x="6297707" y="1918446"/>
            <a:ext cx="4186518" cy="1846730"/>
          </a:xfrm>
          <a:prstGeom prst="rect">
            <a:avLst/>
          </a:prstGeom>
        </p:spPr>
      </p:pic>
      <p:pic>
        <p:nvPicPr>
          <p:cNvPr id="18" name="Picture 17">
            <a:extLst>
              <a:ext uri="{FF2B5EF4-FFF2-40B4-BE49-F238E27FC236}">
                <a16:creationId xmlns:a16="http://schemas.microsoft.com/office/drawing/2014/main" id="{AC223928-243E-E841-32BD-49E9D2A04B53}"/>
              </a:ext>
            </a:extLst>
          </p:cNvPr>
          <p:cNvPicPr>
            <a:picLocks noChangeAspect="1"/>
          </p:cNvPicPr>
          <p:nvPr/>
        </p:nvPicPr>
        <p:blipFill>
          <a:blip r:embed="rId4"/>
          <a:stretch>
            <a:fillRect/>
          </a:stretch>
        </p:blipFill>
        <p:spPr>
          <a:xfrm>
            <a:off x="3778623" y="4057745"/>
            <a:ext cx="4298578" cy="2492562"/>
          </a:xfrm>
          <a:prstGeom prst="rect">
            <a:avLst/>
          </a:prstGeom>
        </p:spPr>
      </p:pic>
    </p:spTree>
    <p:extLst>
      <p:ext uri="{BB962C8B-B14F-4D97-AF65-F5344CB8AC3E}">
        <p14:creationId xmlns:p14="http://schemas.microsoft.com/office/powerpoint/2010/main" val="2357471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15</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4784</TotalTime>
  <Words>1285</Words>
  <Application>Microsoft Office PowerPoint</Application>
  <PresentationFormat>Widescreen</PresentationFormat>
  <Paragraphs>185</Paragraphs>
  <Slides>15</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15</vt:i4>
      </vt:variant>
    </vt:vector>
  </HeadingPairs>
  <TitlesOfParts>
    <vt:vector size="22" baseType="lpstr">
      <vt:lpstr>Arial</vt:lpstr>
      <vt:lpstr>Calibri</vt:lpstr>
      <vt:lpstr>Calibri Light</vt:lpstr>
      <vt:lpstr>Google Sans</vt:lpstr>
      <vt:lpstr>Times New Roman</vt:lpstr>
      <vt:lpstr>Office Theme</vt:lpstr>
      <vt:lpstr>Custom Design</vt:lpstr>
      <vt:lpstr>INSTRUCTIONS</vt:lpstr>
      <vt:lpstr>Title: THE THOUGHTFUL WRITING SPACE</vt:lpstr>
      <vt:lpstr>OUTLINE</vt:lpstr>
      <vt:lpstr>Abstract</vt:lpstr>
      <vt:lpstr>Existing System </vt:lpstr>
      <vt:lpstr>Proposed System</vt:lpstr>
      <vt:lpstr>System Architecture</vt:lpstr>
      <vt:lpstr>Project Modules</vt:lpstr>
      <vt:lpstr>Objectives</vt:lpstr>
      <vt:lpstr>Co’s Attainments - FWD</vt:lpstr>
      <vt:lpstr>Co’s Attainments - DSA</vt:lpstr>
      <vt:lpstr>Screenshots for FWD &amp; DSA</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lenovo</cp:lastModifiedBy>
  <cp:revision>52</cp:revision>
  <dcterms:created xsi:type="dcterms:W3CDTF">2022-05-20T10:20:31Z</dcterms:created>
  <dcterms:modified xsi:type="dcterms:W3CDTF">2026-03-09T05:01:53Z</dcterms:modified>
</cp:coreProperties>
</file>